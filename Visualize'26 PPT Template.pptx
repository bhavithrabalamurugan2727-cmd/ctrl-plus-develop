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lgerian" panose="04020705040A02060702" pitchFamily="82" charset="0"/>
      <p:regular r:id="rId13"/>
    </p:embeddedFont>
    <p:embeddedFont>
      <p:font typeface="Century" panose="02040604050505020304" pitchFamily="18" charset="0"/>
      <p:regular r:id="rId14"/>
    </p:embeddedFont>
    <p:embeddedFont>
      <p:font typeface="Copperplate Gothic Light" panose="020E0507020206020404" pitchFamily="34" charset="0"/>
      <p:regular r:id="rId15"/>
    </p:embeddedFont>
    <p:embeddedFont>
      <p:font typeface="Franklin Gothic Heavy" panose="020B0903020102020204" pitchFamily="34" charset="0"/>
      <p:regular r:id="rId16"/>
      <p:italic r:id="rId17"/>
    </p:embeddedFont>
    <p:embeddedFont>
      <p:font typeface="Hussar Bold" panose="020B0604020202020204" charset="0"/>
      <p:regular r:id="rId18"/>
    </p:embeddedFont>
    <p:embeddedFont>
      <p:font typeface="Illuma Black" panose="00000A00000000000000" pitchFamily="2" charset="0"/>
      <p:bold r:id="rId19"/>
    </p:embeddedFont>
    <p:embeddedFont>
      <p:font typeface="Norwester" panose="020B0604020202020204" charset="0"/>
      <p:regular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Bold" panose="02000000000000000000" charset="0"/>
      <p:regular r:id="rId25"/>
    </p:embeddedFont>
    <p:embeddedFont>
      <p:font typeface="Rockwell Extra Bold" panose="02060903040505020403" pitchFamily="18" charset="0"/>
      <p:bold r:id="rId26"/>
    </p:embeddedFont>
    <p:embeddedFont>
      <p:font typeface="Segoe UI Black" panose="020B0A02040204020203" pitchFamily="34" charset="0"/>
      <p:bold r:id="rId27"/>
      <p:boldItalic r:id="rId28"/>
    </p:embeddedFont>
    <p:embeddedFont>
      <p:font typeface="Times New Roman MT Bold" panose="020B0604020202020204" charset="0"/>
      <p:regular r:id="rId29"/>
    </p:embeddedFont>
    <p:embeddedFont>
      <p:font typeface="Wide Latin" panose="020A0A07050505020404" pitchFamily="18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1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8174" y="-5125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52541" y="8765026"/>
            <a:ext cx="19464737" cy="3086100"/>
            <a:chOff x="0" y="0"/>
            <a:chExt cx="5126515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26515" cy="812800"/>
            </a:xfrm>
            <a:custGeom>
              <a:avLst/>
              <a:gdLst/>
              <a:ahLst/>
              <a:cxnLst/>
              <a:rect l="l" t="t" r="r" b="b"/>
              <a:pathLst>
                <a:path w="5126515" h="812800">
                  <a:moveTo>
                    <a:pt x="0" y="0"/>
                  </a:moveTo>
                  <a:lnTo>
                    <a:pt x="5126515" y="0"/>
                  </a:lnTo>
                  <a:lnTo>
                    <a:pt x="512651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26515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-1024196" y="5738089"/>
            <a:ext cx="2052896" cy="1796284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2931737"/>
            <a:ext cx="2052896" cy="1796284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7259300" y="4728021"/>
            <a:ext cx="2052896" cy="1796284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1024196" y="3941805"/>
            <a:ext cx="2052896" cy="1796284"/>
            <a:chOff x="0" y="0"/>
            <a:chExt cx="812800" cy="711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4577332" y="590225"/>
            <a:ext cx="2212466" cy="1884312"/>
          </a:xfrm>
          <a:custGeom>
            <a:avLst/>
            <a:gdLst/>
            <a:ahLst/>
            <a:cxnLst/>
            <a:rect l="l" t="t" r="r" b="b"/>
            <a:pathLst>
              <a:path w="2212466" h="1884312">
                <a:moveTo>
                  <a:pt x="0" y="0"/>
                </a:moveTo>
                <a:lnTo>
                  <a:pt x="2212466" y="0"/>
                </a:lnTo>
                <a:lnTo>
                  <a:pt x="2212466" y="1884312"/>
                </a:lnTo>
                <a:lnTo>
                  <a:pt x="0" y="1884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05" t="-13167" r="-9405" b="-26334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6400" y="568383"/>
            <a:ext cx="1791127" cy="1906154"/>
          </a:xfrm>
          <a:custGeom>
            <a:avLst/>
            <a:gdLst/>
            <a:ahLst/>
            <a:cxnLst/>
            <a:rect l="l" t="t" r="r" b="b"/>
            <a:pathLst>
              <a:path w="1791127" h="1906154">
                <a:moveTo>
                  <a:pt x="0" y="0"/>
                </a:moveTo>
                <a:lnTo>
                  <a:pt x="1791127" y="0"/>
                </a:lnTo>
                <a:lnTo>
                  <a:pt x="1791127" y="1906154"/>
                </a:lnTo>
                <a:lnTo>
                  <a:pt x="0" y="1906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2821207" y="9088876"/>
            <a:ext cx="14292714" cy="1079209"/>
            <a:chOff x="0" y="0"/>
            <a:chExt cx="19056952" cy="1438945"/>
          </a:xfrm>
        </p:grpSpPr>
        <p:sp>
          <p:nvSpPr>
            <p:cNvPr id="27" name="Freeform 27"/>
            <p:cNvSpPr/>
            <p:nvPr/>
          </p:nvSpPr>
          <p:spPr>
            <a:xfrm>
              <a:off x="3572077" y="245072"/>
              <a:ext cx="4548558" cy="948801"/>
            </a:xfrm>
            <a:custGeom>
              <a:avLst/>
              <a:gdLst/>
              <a:ahLst/>
              <a:cxnLst/>
              <a:rect l="l" t="t" r="r" b="b"/>
              <a:pathLst>
                <a:path w="4548558" h="948801">
                  <a:moveTo>
                    <a:pt x="0" y="0"/>
                  </a:moveTo>
                  <a:lnTo>
                    <a:pt x="4548558" y="0"/>
                  </a:lnTo>
                  <a:lnTo>
                    <a:pt x="4548558" y="948801"/>
                  </a:lnTo>
                  <a:lnTo>
                    <a:pt x="0" y="948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043" t="-9424" b="-49762"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10195495" y="169467"/>
              <a:ext cx="3375297" cy="1100011"/>
            </a:xfrm>
            <a:custGeom>
              <a:avLst/>
              <a:gdLst/>
              <a:ahLst/>
              <a:cxnLst/>
              <a:rect l="l" t="t" r="r" b="b"/>
              <a:pathLst>
                <a:path w="3375297" h="1100011">
                  <a:moveTo>
                    <a:pt x="0" y="0"/>
                  </a:moveTo>
                  <a:lnTo>
                    <a:pt x="3375297" y="0"/>
                  </a:lnTo>
                  <a:lnTo>
                    <a:pt x="3375297" y="1100011"/>
                  </a:lnTo>
                  <a:lnTo>
                    <a:pt x="0" y="1100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5196" b="-101645"/>
              </a:stretch>
            </a:blipFill>
          </p:spPr>
        </p:sp>
        <p:grpSp>
          <p:nvGrpSpPr>
            <p:cNvPr id="29" name="Group 29"/>
            <p:cNvGrpSpPr/>
            <p:nvPr/>
          </p:nvGrpSpPr>
          <p:grpSpPr>
            <a:xfrm>
              <a:off x="0" y="0"/>
              <a:ext cx="1438945" cy="1438945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13947" t="-60602" r="-18119" b="-63715"/>
                </a:stretch>
              </a:blipFill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1786039" y="0"/>
              <a:ext cx="1438945" cy="1438945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31556" t="-16823" r="-31036" b="-11630"/>
                </a:stretch>
              </a:blipFill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13917885" y="0"/>
              <a:ext cx="1438945" cy="1438945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3125" r="-3125"/>
                </a:stretch>
              </a:blipFill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15703924" y="0"/>
              <a:ext cx="1438945" cy="1438945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-6973" t="-53188" r="-12902" b="-50423"/>
                </a:stretch>
              </a:blipFill>
            </p:spPr>
          </p:sp>
        </p:grpSp>
        <p:sp>
          <p:nvSpPr>
            <p:cNvPr id="37" name="Freeform 37"/>
            <p:cNvSpPr/>
            <p:nvPr/>
          </p:nvSpPr>
          <p:spPr>
            <a:xfrm>
              <a:off x="8467728" y="29136"/>
              <a:ext cx="1380673" cy="1380673"/>
            </a:xfrm>
            <a:custGeom>
              <a:avLst/>
              <a:gdLst/>
              <a:ahLst/>
              <a:cxnLst/>
              <a:rect l="l" t="t" r="r" b="b"/>
              <a:pathLst>
                <a:path w="1380673" h="1380673">
                  <a:moveTo>
                    <a:pt x="0" y="0"/>
                  </a:moveTo>
                  <a:lnTo>
                    <a:pt x="1380673" y="0"/>
                  </a:lnTo>
                  <a:lnTo>
                    <a:pt x="1380673" y="1380673"/>
                  </a:lnTo>
                  <a:lnTo>
                    <a:pt x="0" y="1380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17489963" y="15580"/>
              <a:ext cx="1566989" cy="1407785"/>
            </a:xfrm>
            <a:custGeom>
              <a:avLst/>
              <a:gdLst/>
              <a:ahLst/>
              <a:cxnLst/>
              <a:rect l="l" t="t" r="r" b="b"/>
              <a:pathLst>
                <a:path w="1566989" h="1407785">
                  <a:moveTo>
                    <a:pt x="0" y="0"/>
                  </a:moveTo>
                  <a:lnTo>
                    <a:pt x="1566989" y="0"/>
                  </a:lnTo>
                  <a:lnTo>
                    <a:pt x="1566989" y="1407785"/>
                  </a:lnTo>
                  <a:lnTo>
                    <a:pt x="0" y="140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4656" t="-35135" r="-1342" b="-32319"/>
              </a:stretch>
            </a:blipFill>
          </p:spPr>
        </p:sp>
      </p:grpSp>
      <p:sp>
        <p:nvSpPr>
          <p:cNvPr id="39" name="TextBox 39"/>
          <p:cNvSpPr txBox="1"/>
          <p:nvPr/>
        </p:nvSpPr>
        <p:spPr>
          <a:xfrm>
            <a:off x="2760004" y="2350712"/>
            <a:ext cx="12374852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4000" dirty="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AI-GENERATED</a:t>
            </a:r>
            <a:r>
              <a:rPr lang="en-US" sz="6000" dirty="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 </a:t>
            </a:r>
            <a:r>
              <a:rPr lang="en-US" sz="4000" dirty="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PHISHING DETECTION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90452" y="7639334"/>
            <a:ext cx="14316348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Members : </a:t>
            </a:r>
            <a:r>
              <a:rPr lang="en-US" sz="3200" b="1" spc="60" dirty="0" err="1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B.Bhavithra</a:t>
            </a:r>
            <a:r>
              <a:rPr lang="en-US" sz="3200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, </a:t>
            </a:r>
            <a:r>
              <a:rPr lang="en-US" sz="3200" b="1" spc="60" dirty="0" err="1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V.Meenakshi</a:t>
            </a:r>
            <a:r>
              <a:rPr lang="en-US" sz="3200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, </a:t>
            </a:r>
            <a:r>
              <a:rPr lang="en-US" sz="3200" b="1" spc="60" dirty="0" err="1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P.Dhraun</a:t>
            </a:r>
            <a:r>
              <a:rPr lang="en-US" sz="3200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200" b="1" spc="60" dirty="0" err="1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Balajii</a:t>
            </a:r>
            <a:endParaRPr lang="en-US" sz="3200" b="1" spc="60" dirty="0">
              <a:solidFill>
                <a:srgbClr val="272727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990452" y="5658407"/>
            <a:ext cx="10353948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Theme : Cyber Security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990451" y="3677479"/>
            <a:ext cx="12717763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PS ID : VH26-CS-02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990451" y="4687547"/>
            <a:ext cx="14948083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PS Title : AI-Generated Phishing Detection 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961640" y="6631698"/>
            <a:ext cx="10687559" cy="69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75783" lvl="1" indent="-437891" algn="l">
              <a:lnSpc>
                <a:spcPts val="5678"/>
              </a:lnSpc>
              <a:buFont typeface="Arial"/>
              <a:buChar char="•"/>
            </a:pPr>
            <a:r>
              <a:rPr lang="en-US" sz="4056" b="1" spc="60" dirty="0">
                <a:solidFill>
                  <a:srgbClr val="27272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Name : CTRL PLUS DEVELOP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049139" y="848937"/>
            <a:ext cx="9796582" cy="93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50"/>
              </a:lnSpc>
            </a:pPr>
            <a:r>
              <a:rPr lang="en-US" sz="5000" spc="575">
                <a:solidFill>
                  <a:srgbClr val="1D3616"/>
                </a:solidFill>
                <a:latin typeface="Norwester"/>
                <a:ea typeface="Norwester"/>
                <a:cs typeface="Norwester"/>
                <a:sym typeface="Norwester"/>
              </a:rPr>
              <a:t>Visualize’26 24hr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175534" y="853769"/>
            <a:ext cx="393693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ABSTRACT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5475" y="2802433"/>
            <a:ext cx="14736001" cy="6796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4553" lvl="1" indent="-571500">
              <a:lnSpc>
                <a:spcPts val="4059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solidFill>
                  <a:srgbClr val="5B694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Roboto"/>
                <a:sym typeface="Roboto"/>
              </a:rPr>
              <a:t>Overview</a:t>
            </a:r>
            <a:r>
              <a:rPr lang="en-US" sz="4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4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Current cybersecurity defenses are failing against Al-generated phishing because these attacks are grammatically perfect and highly personalized.</a:t>
            </a:r>
          </a:p>
          <a:p>
            <a:pPr marL="884553" lvl="1" indent="-571500">
              <a:lnSpc>
                <a:spcPts val="4059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solidFill>
                  <a:srgbClr val="5B694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Roboto"/>
                <a:sym typeface="Roboto"/>
              </a:rPr>
              <a:t>Solution:</a:t>
            </a:r>
            <a:r>
              <a:rPr lang="en-US" sz="4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4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We propose an Intelligent Detection Framework that uses Natural Language Processing (NLP) and Behavioral Analysis to spot the statistical "tells" of Al-written content.</a:t>
            </a:r>
          </a:p>
          <a:p>
            <a:pPr marL="884553" lvl="1" indent="-571500">
              <a:lnSpc>
                <a:spcPts val="4059"/>
              </a:lnSpc>
              <a:buFont typeface="Wingdings" panose="05000000000000000000" pitchFamily="2" charset="2"/>
              <a:buChar char="ü"/>
            </a:pPr>
            <a:r>
              <a:rPr lang="en-US" sz="4000" dirty="0">
                <a:solidFill>
                  <a:srgbClr val="5B694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Roboto"/>
                <a:sym typeface="Roboto"/>
              </a:rPr>
              <a:t>Out Come:</a:t>
            </a:r>
            <a:r>
              <a:rPr lang="en-US" sz="4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4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A proactive, self-learning system that neutralizes sophisticated social engineering attacks, protecting sensitive data from the next generation of automated threats</a:t>
            </a: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" name="Group 17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endParaRPr lang="en-US" sz="3600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endParaRPr lang="en-US" sz="3600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endParaRPr lang="en-US" sz="3600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endParaRPr lang="en-US" sz="3600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endParaRPr lang="en-US" sz="3600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endParaRPr lang="en-US" sz="3600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884553" lvl="1" indent="-571500">
              <a:lnSpc>
                <a:spcPts val="4059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5B694E"/>
                </a:solidFill>
                <a:latin typeface="Wide Latin" panose="020A0A07050505020404" pitchFamily="18" charset="0"/>
                <a:ea typeface="Roboto"/>
                <a:cs typeface="Roboto"/>
                <a:sym typeface="Roboto"/>
              </a:rPr>
              <a:t>Rise of AI-Generated Fraud: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36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Scammers now use Generative AI to create hyper-realistic, personalized phishing messages and </a:t>
            </a:r>
            <a:r>
              <a:rPr lang="en-US" sz="3600" b="1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"Deepfake"</a:t>
            </a:r>
            <a:r>
              <a:rPr lang="en-US" sz="36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voice calls that bypass human intuition . </a:t>
            </a:r>
          </a:p>
          <a:p>
            <a:pPr marL="770253" lvl="1" indent="-457200">
              <a:lnSpc>
                <a:spcPts val="4059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5B694E"/>
                </a:solidFill>
                <a:latin typeface="Wide Latin" panose="020A0A07050505020404" pitchFamily="18" charset="0"/>
                <a:ea typeface="Roboto"/>
                <a:cs typeface="Roboto"/>
                <a:sym typeface="Roboto"/>
              </a:rPr>
              <a:t>The Human Element :</a:t>
            </a:r>
            <a:r>
              <a:rPr lang="en-US" sz="36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36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Traditional filters fail to catch these because they lack the </a:t>
            </a:r>
            <a:r>
              <a:rPr lang="en-US" sz="3600" b="1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"bad grammar"</a:t>
            </a:r>
            <a:r>
              <a:rPr lang="en-US" sz="36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-US" sz="3600" b="1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"suspicious links"</a:t>
            </a:r>
            <a:r>
              <a:rPr lang="en-US" sz="36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of old-school spam .</a:t>
            </a:r>
          </a:p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36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600" dirty="0">
                <a:solidFill>
                  <a:srgbClr val="5B694E"/>
                </a:solidFill>
                <a:latin typeface="Wide Latin" panose="020A0A07050505020404" pitchFamily="18" charset="0"/>
                <a:ea typeface="Verdana" panose="020B0604030504040204" pitchFamily="34" charset="0"/>
                <a:cs typeface="Roboto"/>
                <a:sym typeface="Roboto"/>
              </a:rPr>
              <a:t>Impact:</a:t>
            </a:r>
            <a:r>
              <a:rPr lang="en-US" sz="36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36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Massive financial theft, identity fraud, and loss of digital trust among everyday users, particularly the elderly and non-technical populations.</a:t>
            </a:r>
          </a:p>
          <a:p>
            <a:pPr algn="ctr">
              <a:lnSpc>
                <a:spcPts val="4059"/>
              </a:lnSpc>
            </a:pPr>
            <a:endParaRPr lang="en-US" sz="3600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161096" y="853769"/>
            <a:ext cx="796580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PROBLEM STATEMENT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82863" y="3468160"/>
            <a:ext cx="11522275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endParaRPr lang="en-US" sz="3600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59314" y="853769"/>
            <a:ext cx="736937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EXISTING SOLUTION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09800" y="2338599"/>
            <a:ext cx="14195623" cy="5745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0253" lvl="1" indent="-457200">
              <a:lnSpc>
                <a:spcPts val="4059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Current Tech: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Basic keyword-based SMS filters and crowdsourced blacklists (like </a:t>
            </a:r>
            <a:r>
              <a:rPr lang="en-US" sz="2899" dirty="0" err="1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Truecaller</a:t>
            </a: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</a:p>
          <a:p>
            <a:pPr marL="884553" lvl="1" indent="-571500">
              <a:lnSpc>
                <a:spcPts val="4059"/>
              </a:lnSpc>
              <a:buFont typeface="Wingdings" panose="05000000000000000000" pitchFamily="2" charset="2"/>
              <a:buChar char="v"/>
            </a:pPr>
            <a:r>
              <a:rPr lang="en-US" sz="3600" b="1" dirty="0">
                <a:solidFill>
                  <a:srgbClr val="5B694E"/>
                </a:solidFill>
                <a:latin typeface="Algerian" panose="04020705040A02060702" pitchFamily="82" charset="0"/>
                <a:ea typeface="Roboto"/>
                <a:cs typeface="Roboto"/>
                <a:sym typeface="Roboto"/>
              </a:rPr>
              <a:t>Limitations :</a:t>
            </a:r>
          </a:p>
          <a:p>
            <a:pPr marL="770253" lvl="1" indent="-457200">
              <a:lnSpc>
                <a:spcPts val="4059"/>
              </a:lnSpc>
              <a:buFont typeface="Wingdings" panose="05000000000000000000" pitchFamily="2" charset="2"/>
              <a:buChar char="Ø"/>
            </a:pPr>
            <a:r>
              <a:rPr lang="en-US" sz="2899" b="1" dirty="0">
                <a:solidFill>
                  <a:srgbClr val="5B694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Roboto"/>
                <a:sym typeface="Roboto"/>
              </a:rPr>
              <a:t>Reactive:</a:t>
            </a: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They only block known numbers or links after others have been scammed.</a:t>
            </a:r>
          </a:p>
          <a:p>
            <a:pPr marL="770253" lvl="1" indent="-457200">
              <a:lnSpc>
                <a:spcPts val="4059"/>
              </a:lnSpc>
              <a:buFont typeface="Wingdings" panose="05000000000000000000" pitchFamily="2" charset="2"/>
              <a:buChar char="Ø"/>
            </a:pPr>
            <a:r>
              <a:rPr lang="en-US" sz="2899" b="1" dirty="0">
                <a:solidFill>
                  <a:srgbClr val="5B694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Roboto"/>
                <a:sym typeface="Roboto"/>
              </a:rPr>
              <a:t>Inflexible: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They cannot detect</a:t>
            </a:r>
            <a:r>
              <a:rPr lang="en-US" sz="2899" b="1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"Novel"</a:t>
            </a: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phishing attempts—messages written uniquely by AI for a specific target</a:t>
            </a:r>
          </a:p>
          <a:p>
            <a:pPr marL="770253" lvl="1" indent="-457200">
              <a:lnSpc>
                <a:spcPts val="4059"/>
              </a:lnSpc>
              <a:buFont typeface="Wingdings" panose="05000000000000000000" pitchFamily="2" charset="2"/>
              <a:buChar char="Ø"/>
            </a:pPr>
            <a:r>
              <a:rPr lang="en-US" sz="2899" dirty="0">
                <a:solidFill>
                  <a:srgbClr val="5B694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Roboto"/>
                <a:sym typeface="Roboto"/>
              </a:rPr>
              <a:t>High False Positives:</a:t>
            </a: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Often block legitimate business communications. </a:t>
            </a: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54796" y="853769"/>
            <a:ext cx="777840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PROPOSED SOLUTION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82863" y="3390365"/>
            <a:ext cx="11522275" cy="6280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253" lvl="1" indent="-457200">
              <a:lnSpc>
                <a:spcPts val="4059"/>
              </a:lnSpc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5B694E"/>
                </a:solidFill>
                <a:latin typeface="Rockwell Extra Bold" panose="02060903040505020403" pitchFamily="18" charset="0"/>
                <a:ea typeface="Roboto"/>
                <a:cs typeface="Roboto"/>
                <a:sym typeface="Roboto"/>
              </a:rPr>
              <a:t>AI-Native Detection:</a:t>
            </a:r>
            <a:r>
              <a:rPr lang="en-US" sz="32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32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Instead of blacklists, our system uses an</a:t>
            </a:r>
            <a:r>
              <a:rPr lang="en-US" sz="3200" b="1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"Intent Analysis Engine"</a:t>
            </a:r>
            <a:r>
              <a:rPr lang="en-US" sz="32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to detect the psychological manipulation typical in phishing (urgency, fear, or fake rewards)</a:t>
            </a:r>
          </a:p>
          <a:p>
            <a:pPr marL="770253" lvl="1" indent="-457200">
              <a:lnSpc>
                <a:spcPts val="4059"/>
              </a:lnSpc>
              <a:buFont typeface="Courier New" panose="02070309020205020404" pitchFamily="49" charset="0"/>
              <a:buChar char="o"/>
            </a:pPr>
            <a:r>
              <a:rPr lang="en-US" sz="3200" b="1" dirty="0">
                <a:solidFill>
                  <a:srgbClr val="5B694E"/>
                </a:solidFill>
                <a:latin typeface="Rockwell Extra Bold" panose="02060903040505020403" pitchFamily="18" charset="0"/>
                <a:ea typeface="Roboto"/>
                <a:cs typeface="Roboto"/>
                <a:sym typeface="Roboto"/>
              </a:rPr>
              <a:t>Multi-Channel Guard: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32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One single interface to monitor Calls (Vishing), SMS (Smishing), and Web Links.</a:t>
            </a:r>
          </a:p>
          <a:p>
            <a:pPr marL="626106" lvl="1" indent="-313053">
              <a:lnSpc>
                <a:spcPts val="4059"/>
              </a:lnSpc>
              <a:buFont typeface="Arial"/>
              <a:buChar char="•"/>
            </a:pPr>
            <a:r>
              <a:rPr lang="en-US" sz="3200" b="1" dirty="0">
                <a:solidFill>
                  <a:srgbClr val="5B694E"/>
                </a:solidFill>
                <a:latin typeface="Rockwell Extra Bold" panose="02060903040505020403" pitchFamily="18" charset="0"/>
                <a:ea typeface="Roboto"/>
                <a:cs typeface="Roboto"/>
                <a:sym typeface="Roboto"/>
              </a:rPr>
              <a:t>Real-time Reporting: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32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Users receive an instant popup report explaining why a message is suspicious, educating the user while protecting them. </a:t>
            </a:r>
          </a:p>
          <a:p>
            <a:pPr algn="ctr">
              <a:lnSpc>
                <a:spcPts val="4059"/>
              </a:lnSpc>
            </a:pPr>
            <a:endParaRPr lang="en-US" sz="3200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03904" y="853769"/>
            <a:ext cx="708019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MARKET ANALYSIS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82863" y="3253819"/>
            <a:ext cx="11522275" cy="4693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253" lvl="1" indent="-457200">
              <a:lnSpc>
                <a:spcPts val="4059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5B694E"/>
                </a:solidFill>
                <a:latin typeface="Illuma Black" panose="00000A00000000000000" pitchFamily="2" charset="0"/>
                <a:ea typeface="Roboto"/>
                <a:cs typeface="Roboto"/>
                <a:sym typeface="Roboto"/>
              </a:rPr>
              <a:t>Target Users:</a:t>
            </a: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Individual smartphone users, Banking &amp; Fintech institutions, and Corporate employees (B2B2C).</a:t>
            </a:r>
          </a:p>
          <a:p>
            <a:pPr marL="770253" lvl="1" indent="-457200">
              <a:lnSpc>
                <a:spcPts val="4059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5B694E"/>
                </a:solidFill>
                <a:latin typeface="Illuma Black" panose="00000A00000000000000" pitchFamily="2" charset="0"/>
                <a:ea typeface="Roboto"/>
                <a:cs typeface="Roboto"/>
                <a:sym typeface="Roboto"/>
              </a:rPr>
              <a:t>Market Demand:</a:t>
            </a: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With global losses from scams exceeding $1 trillion annually, there is a desperate need for "Zero-Trust" communication security.</a:t>
            </a:r>
          </a:p>
          <a:p>
            <a:pPr marL="770253" lvl="1" indent="-457200">
              <a:lnSpc>
                <a:spcPts val="4059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5B694E"/>
                </a:solidFill>
                <a:latin typeface="Illuma Black" panose="00000A00000000000000" pitchFamily="2" charset="0"/>
                <a:ea typeface="Roboto"/>
                <a:cs typeface="Roboto"/>
                <a:sym typeface="Roboto"/>
              </a:rPr>
              <a:t>Opportunities:</a:t>
            </a: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Potential partnerships with Telecom providers to integrate Aegis-AI at the network level.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02122" y="853769"/>
            <a:ext cx="648375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SDG ALIGNMENTS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84470" y="3253819"/>
            <a:ext cx="15574830" cy="521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7403" lvl="1" indent="-514350">
              <a:lnSpc>
                <a:spcPts val="4059"/>
              </a:lnSpc>
              <a:buFont typeface="+mj-lt"/>
              <a:buAutoNum type="arabicParenR"/>
            </a:pPr>
            <a:r>
              <a:rPr lang="en-US" sz="2899" b="1" dirty="0">
                <a:solidFill>
                  <a:srgbClr val="5B694E"/>
                </a:solidFill>
                <a:latin typeface="Rockwell Extra Bold" panose="02060903040505020403" pitchFamily="18" charset="0"/>
                <a:ea typeface="Roboto"/>
                <a:cs typeface="Roboto"/>
                <a:sym typeface="Roboto"/>
              </a:rPr>
              <a:t>SDG 9 (Industry, Innovation, and Infrastructure):</a:t>
            </a:r>
          </a:p>
          <a:p>
            <a:pPr marL="770253" lvl="1" indent="-457200">
              <a:lnSpc>
                <a:spcPts val="4059"/>
              </a:lnSpc>
              <a:buFont typeface="Arial" panose="020B0604020202020204" pitchFamily="34" charset="0"/>
              <a:buChar char="•"/>
            </a:pPr>
            <a:r>
              <a:rPr lang="en-US" sz="2899" dirty="0">
                <a:solidFill>
                  <a:srgbClr val="5B694E"/>
                </a:solidFill>
                <a:latin typeface="Century" panose="02040604050505020304" pitchFamily="18" charset="0"/>
                <a:ea typeface="Roboto"/>
                <a:cs typeface="Roboto"/>
                <a:sym typeface="Roboto"/>
              </a:rPr>
              <a:t> Enhancing digital infrastructure security through innovative AI.</a:t>
            </a:r>
          </a:p>
          <a:p>
            <a:pPr marL="313053" lvl="1">
              <a:lnSpc>
                <a:spcPts val="4059"/>
              </a:lnSpc>
            </a:pPr>
            <a:r>
              <a:rPr lang="en-US" sz="2899" b="1" dirty="0">
                <a:solidFill>
                  <a:srgbClr val="5B694E"/>
                </a:solidFill>
                <a:latin typeface="Rockwell Extra Bold" panose="02060903040505020403" pitchFamily="18" charset="0"/>
                <a:ea typeface="Roboto"/>
                <a:cs typeface="Roboto"/>
                <a:sym typeface="Roboto"/>
              </a:rPr>
              <a:t>2) SDG 16 (Peace, Justice, and Strong Institutions):</a:t>
            </a: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70253" lvl="1" indent="-457200">
              <a:lnSpc>
                <a:spcPts val="4059"/>
              </a:lnSpc>
              <a:buFont typeface="Arial" panose="020B0604020202020204" pitchFamily="34" charset="0"/>
              <a:buChar char="•"/>
            </a:pPr>
            <a:r>
              <a:rPr lang="en-US" sz="2899" dirty="0">
                <a:solidFill>
                  <a:srgbClr val="5B694E"/>
                </a:solidFill>
                <a:latin typeface="Century" panose="02040604050505020304" pitchFamily="18" charset="0"/>
                <a:ea typeface="Roboto"/>
                <a:cs typeface="Roboto"/>
                <a:sym typeface="Roboto"/>
              </a:rPr>
              <a:t>Protecting citizens from digital crime and strengthening personal security.</a:t>
            </a:r>
          </a:p>
          <a:p>
            <a:pPr marL="313053" lvl="1">
              <a:lnSpc>
                <a:spcPts val="4059"/>
              </a:lnSpc>
            </a:pPr>
            <a:r>
              <a:rPr lang="en-US" sz="2899" b="1" dirty="0">
                <a:solidFill>
                  <a:srgbClr val="5B694E"/>
                </a:solidFill>
                <a:latin typeface="Rockwell Extra Bold" panose="02060903040505020403" pitchFamily="18" charset="0"/>
                <a:ea typeface="Roboto"/>
                <a:cs typeface="Roboto"/>
                <a:sym typeface="Roboto"/>
              </a:rPr>
              <a:t>3)SDG 10 (Reduced Inequalities):</a:t>
            </a:r>
          </a:p>
          <a:p>
            <a:pPr marL="770253" lvl="1" indent="-457200">
              <a:lnSpc>
                <a:spcPts val="4059"/>
              </a:lnSpc>
              <a:buFont typeface="Arial" panose="020B0604020202020204" pitchFamily="34" charset="0"/>
              <a:buChar char="•"/>
            </a:pPr>
            <a:r>
              <a:rPr lang="en-US" sz="2899" dirty="0">
                <a:solidFill>
                  <a:srgbClr val="5B694E"/>
                </a:solidFill>
                <a:latin typeface="Century" panose="02040604050505020304" pitchFamily="18" charset="0"/>
                <a:ea typeface="Roboto"/>
                <a:cs typeface="Roboto"/>
                <a:sym typeface="Roboto"/>
              </a:rPr>
              <a:t>Protecting vulnerable populations (the elderly/low-income) who are disproportionately targeted by </a:t>
            </a:r>
            <a:r>
              <a:rPr lang="en-US" sz="2899" b="1" dirty="0">
                <a:solidFill>
                  <a:srgbClr val="5B694E"/>
                </a:solidFill>
                <a:latin typeface="Rockwell Extra Bold" panose="02060903040505020403" pitchFamily="18" charset="0"/>
                <a:ea typeface="Roboto"/>
                <a:cs typeface="Roboto"/>
                <a:sym typeface="Roboto"/>
              </a:rPr>
              <a:t>.</a:t>
            </a:r>
          </a:p>
          <a:p>
            <a:pPr marL="313053" lvl="1">
              <a:lnSpc>
                <a:spcPts val="4059"/>
              </a:lnSpc>
            </a:pPr>
            <a:endParaRPr lang="en-US" sz="2899" b="1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13053" lvl="1">
              <a:lnSpc>
                <a:spcPts val="4059"/>
              </a:lnSpc>
            </a:pPr>
            <a:r>
              <a:rPr lang="en-US" sz="2899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08656" y="853769"/>
            <a:ext cx="867068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FINANCIAL ESTIMATION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12748" y="4005475"/>
            <a:ext cx="13262504" cy="416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13053" lvl="1" algn="just">
              <a:lnSpc>
                <a:spcPts val="4059"/>
              </a:lnSpc>
            </a:pPr>
            <a:r>
              <a:rPr lang="en-US" sz="2899" b="1" dirty="0">
                <a:solidFill>
                  <a:srgbClr val="5B694E"/>
                </a:solidFill>
                <a:latin typeface="Copperplate Gothic Light" panose="020E0507020206020404" pitchFamily="34" charset="0"/>
                <a:ea typeface="Roboto"/>
                <a:cs typeface="Roboto"/>
                <a:sym typeface="Roboto"/>
              </a:rPr>
              <a:t> Category Estimated Budget (Year 1) Expected ROI / Revenue R  &amp; D &amp; Model Training $120,000 SaaS Subscription for Corporate Units Cloud Infrastructure $40,000 Freemium model for individual users Marketing &amp; Awareness $25,000 Reduction in bank fraud-related costs Maintenance &amp; Security $15,000 </a:t>
            </a:r>
          </a:p>
          <a:p>
            <a:pPr marL="313053" lvl="1" algn="just">
              <a:lnSpc>
                <a:spcPts val="4059"/>
              </a:lnSpc>
            </a:pPr>
            <a:endParaRPr lang="en-US" sz="2899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2696678" y="9388858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4304978" y="-1794032"/>
            <a:ext cx="2052896" cy="3592568"/>
            <a:chOff x="0" y="0"/>
            <a:chExt cx="2737195" cy="479009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737195" cy="2395045"/>
              <a:chOff x="0" y="0"/>
              <a:chExt cx="812800" cy="7112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DBF6C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10800000">
              <a:off x="0" y="2395045"/>
              <a:ext cx="2737195" cy="2395045"/>
              <a:chOff x="0" y="0"/>
              <a:chExt cx="812800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AAD59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 rot="-5400000">
            <a:off x="900394" y="9388858"/>
            <a:ext cx="2052896" cy="1796284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8334" y="853769"/>
            <a:ext cx="491133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CONCLUSION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82863" y="3325456"/>
            <a:ext cx="11522275" cy="3634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253" lvl="1" indent="-457200">
              <a:lnSpc>
                <a:spcPts val="4059"/>
              </a:lnSpc>
              <a:buFont typeface="Wingdings" panose="05000000000000000000" pitchFamily="2" charset="2"/>
              <a:buChar char="v"/>
            </a:pPr>
            <a:r>
              <a:rPr lang="en-US" sz="2899" dirty="0">
                <a:solidFill>
                  <a:srgbClr val="5B694E"/>
                </a:solidFill>
                <a:latin typeface="Franklin Gothic Heavy" panose="020B0903020102020204" pitchFamily="34" charset="0"/>
                <a:ea typeface="Roboto"/>
                <a:cs typeface="Roboto"/>
                <a:sym typeface="Roboto"/>
              </a:rPr>
              <a:t>Aegis-AI shifts the defense from reactive to proactive, using the same AI technology that scammers use to defeat them. </a:t>
            </a:r>
          </a:p>
          <a:p>
            <a:pPr marL="770253" lvl="1" indent="-457200">
              <a:lnSpc>
                <a:spcPts val="4059"/>
              </a:lnSpc>
              <a:buFont typeface="Wingdings" panose="05000000000000000000" pitchFamily="2" charset="2"/>
              <a:buChar char="v"/>
            </a:pPr>
            <a:r>
              <a:rPr lang="en-US" sz="2899" dirty="0">
                <a:solidFill>
                  <a:srgbClr val="5B694E"/>
                </a:solidFill>
                <a:latin typeface="Franklin Gothic Heavy" panose="020B0903020102020204" pitchFamily="34" charset="0"/>
                <a:ea typeface="Roboto"/>
                <a:cs typeface="Roboto"/>
                <a:sym typeface="Roboto"/>
              </a:rPr>
              <a:t>By providing real-time reporting and multi-channel blocking, we create a safety net that restores trust in digital communication .</a:t>
            </a:r>
          </a:p>
          <a:p>
            <a:pPr marL="770253" lvl="1" indent="-457200">
              <a:lnSpc>
                <a:spcPts val="4059"/>
              </a:lnSpc>
              <a:buFont typeface="Wingdings" panose="05000000000000000000" pitchFamily="2" charset="2"/>
              <a:buChar char="v"/>
            </a:pPr>
            <a:r>
              <a:rPr lang="en-US" sz="2899" dirty="0">
                <a:solidFill>
                  <a:srgbClr val="5B694E"/>
                </a:solidFill>
                <a:latin typeface="Franklin Gothic Heavy" panose="020B0903020102020204" pitchFamily="34" charset="0"/>
                <a:ea typeface="Roboto"/>
                <a:cs typeface="Roboto"/>
                <a:sym typeface="Roboto"/>
              </a:rPr>
              <a:t>The future of security is not just blocking numbers; it is understanding intent.</a:t>
            </a:r>
          </a:p>
        </p:txBody>
      </p:sp>
      <p:sp>
        <p:nvSpPr>
          <p:cNvPr id="25" name="Freeform 25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10668" y="601146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1024196" y="5738089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577332" y="-2218134"/>
            <a:ext cx="7421336" cy="6493669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259300" y="2931737"/>
            <a:ext cx="2052896" cy="1796284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17259300" y="4728021"/>
            <a:ext cx="2052896" cy="1796284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024196" y="3941805"/>
            <a:ext cx="2052896" cy="1796284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887146" y="853769"/>
            <a:ext cx="451370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REFERENCES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05813" y="2709925"/>
            <a:ext cx="12276374" cy="6767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253" lvl="1" indent="-457200">
              <a:lnSpc>
                <a:spcPts val="4059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5B694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Roboto"/>
                <a:sym typeface="Roboto"/>
              </a:rPr>
              <a:t>APWG (Anti-Phishing Working Group):</a:t>
            </a:r>
            <a:r>
              <a:rPr lang="en-US" sz="2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Phishing Activity Trends Reports 2024-2025.</a:t>
            </a:r>
          </a:p>
          <a:p>
            <a:pPr marL="770253" lvl="1" indent="-457200">
              <a:lnSpc>
                <a:spcPts val="4059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5B694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Roboto"/>
                <a:sym typeface="Roboto"/>
              </a:rPr>
              <a:t> IEEE Xplore:</a:t>
            </a:r>
          </a:p>
          <a:p>
            <a:pPr marL="770253" lvl="1" indent="-457200">
              <a:lnSpc>
                <a:spcPts val="4059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"Deep Learning Approach for Detecting AI-generated Phishing Attacks" (Research Paper).</a:t>
            </a:r>
          </a:p>
          <a:p>
            <a:pPr marL="655953" lvl="1" indent="-342900">
              <a:lnSpc>
                <a:spcPts val="4059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5B694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Roboto"/>
                <a:sym typeface="Roboto"/>
              </a:rPr>
              <a:t>Federal Trade Commission (FTC):</a:t>
            </a:r>
            <a:r>
              <a:rPr lang="en-US" sz="2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Consumer Sentinel Network Data Book regarding Voice and SMS fraud trends.</a:t>
            </a:r>
          </a:p>
          <a:p>
            <a:pPr marL="655953" lvl="1" indent="-342900">
              <a:lnSpc>
                <a:spcPts val="4059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5B694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Roboto"/>
                <a:sym typeface="Roboto"/>
              </a:rPr>
              <a:t>Google Cloud Security:</a:t>
            </a:r>
            <a:r>
              <a:rPr lang="en-US" sz="2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"The State of AI in Cybersecurity: Defending against Generative AI Threats.</a:t>
            </a:r>
          </a:p>
          <a:p>
            <a:pPr marL="655953" lvl="1" indent="-342900">
              <a:lnSpc>
                <a:spcPts val="4059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5B694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Roboto"/>
                <a:sym typeface="Roboto"/>
              </a:rPr>
              <a:t>"UN SDG Knowledge Platform:</a:t>
            </a:r>
            <a:r>
              <a:rPr lang="en-US" sz="2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Guidelines on Goal 9 and 16 regarding Digital Infrastructure and Security.</a:t>
            </a:r>
          </a:p>
          <a:p>
            <a:pPr marL="655953" lvl="1" indent="-342900">
              <a:lnSpc>
                <a:spcPts val="4059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5B694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Roboto"/>
                <a:sym typeface="Roboto"/>
              </a:rPr>
              <a:t>Towards Data Science:</a:t>
            </a:r>
          </a:p>
          <a:p>
            <a:pPr marL="626106" lvl="1" indent="-313053" algn="ctr">
              <a:lnSpc>
                <a:spcPts val="4059"/>
              </a:lnSpc>
              <a:buFont typeface="Arial"/>
              <a:buChar char="•"/>
            </a:pPr>
            <a:r>
              <a:rPr lang="en-US" sz="2000" dirty="0">
                <a:solidFill>
                  <a:srgbClr val="5B694E"/>
                </a:solidFill>
                <a:latin typeface="Roboto"/>
                <a:ea typeface="Roboto"/>
                <a:cs typeface="Roboto"/>
                <a:sym typeface="Roboto"/>
              </a:rPr>
              <a:t> "NLP Techniques for Detecting Social Engineering in Modern Communication."</a:t>
            </a:r>
          </a:p>
          <a:p>
            <a:pPr algn="ctr">
              <a:lnSpc>
                <a:spcPts val="4059"/>
              </a:lnSpc>
            </a:pPr>
            <a:endParaRPr lang="en-US" sz="2000" dirty="0">
              <a:solidFill>
                <a:srgbClr val="5B69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432650" y="525175"/>
            <a:ext cx="1042825" cy="1109795"/>
          </a:xfrm>
          <a:custGeom>
            <a:avLst/>
            <a:gdLst/>
            <a:ahLst/>
            <a:cxnLst/>
            <a:rect l="l" t="t" r="r" b="b"/>
            <a:pathLst>
              <a:path w="1042825" h="1109795">
                <a:moveTo>
                  <a:pt x="0" y="0"/>
                </a:moveTo>
                <a:lnTo>
                  <a:pt x="1042825" y="0"/>
                </a:lnTo>
                <a:lnTo>
                  <a:pt x="1042825" y="1109796"/>
                </a:lnTo>
                <a:lnTo>
                  <a:pt x="0" y="1109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622953" y="525175"/>
            <a:ext cx="1399814" cy="1192193"/>
          </a:xfrm>
          <a:custGeom>
            <a:avLst/>
            <a:gdLst/>
            <a:ahLst/>
            <a:cxnLst/>
            <a:rect l="l" t="t" r="r" b="b"/>
            <a:pathLst>
              <a:path w="1399814" h="1192193">
                <a:moveTo>
                  <a:pt x="0" y="0"/>
                </a:moveTo>
                <a:lnTo>
                  <a:pt x="1399815" y="0"/>
                </a:lnTo>
                <a:lnTo>
                  <a:pt x="1399815" y="1192193"/>
                </a:lnTo>
                <a:lnTo>
                  <a:pt x="0" y="119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05" t="-13167" r="-9405" b="-26334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6405423" y="9070175"/>
            <a:ext cx="853877" cy="64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2"/>
              </a:lnSpc>
            </a:pPr>
            <a:r>
              <a:rPr lang="en-US" sz="3794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0619" y="6059616"/>
            <a:ext cx="7421336" cy="6493669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1394147" y="5786240"/>
            <a:ext cx="2052896" cy="1796284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5592" y="2850843"/>
            <a:ext cx="15893708" cy="6827275"/>
            <a:chOff x="0" y="0"/>
            <a:chExt cx="4078102" cy="17517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78102" cy="1751711"/>
            </a:xfrm>
            <a:custGeom>
              <a:avLst/>
              <a:gdLst/>
              <a:ahLst/>
              <a:cxnLst/>
              <a:rect l="l" t="t" r="r" b="b"/>
              <a:pathLst>
                <a:path w="4078102" h="1751711">
                  <a:moveTo>
                    <a:pt x="4078102" y="48711"/>
                  </a:moveTo>
                  <a:lnTo>
                    <a:pt x="4078102" y="1703000"/>
                  </a:lnTo>
                  <a:cubicBezTo>
                    <a:pt x="4078102" y="1715919"/>
                    <a:pt x="4072970" y="1728309"/>
                    <a:pt x="4063835" y="1737444"/>
                  </a:cubicBezTo>
                  <a:cubicBezTo>
                    <a:pt x="4054700" y="1746579"/>
                    <a:pt x="4042310" y="1751711"/>
                    <a:pt x="4029391" y="1751711"/>
                  </a:cubicBezTo>
                  <a:lnTo>
                    <a:pt x="48711" y="1751711"/>
                  </a:lnTo>
                  <a:cubicBezTo>
                    <a:pt x="21808" y="1751711"/>
                    <a:pt x="0" y="1729902"/>
                    <a:pt x="0" y="1703000"/>
                  </a:cubicBezTo>
                  <a:lnTo>
                    <a:pt x="0" y="48711"/>
                  </a:lnTo>
                  <a:cubicBezTo>
                    <a:pt x="0" y="21808"/>
                    <a:pt x="21808" y="0"/>
                    <a:pt x="48711" y="0"/>
                  </a:cubicBezTo>
                  <a:lnTo>
                    <a:pt x="4029391" y="0"/>
                  </a:lnTo>
                  <a:cubicBezTo>
                    <a:pt x="4056293" y="0"/>
                    <a:pt x="4078102" y="21808"/>
                    <a:pt x="4078102" y="48711"/>
                  </a:cubicBezTo>
                  <a:close/>
                </a:path>
              </a:pathLst>
            </a:custGeom>
            <a:solidFill>
              <a:srgbClr val="6DBF6C">
                <a:alpha val="46667"/>
              </a:srgbClr>
            </a:solidFill>
            <a:ln w="76200" cap="rnd">
              <a:solidFill>
                <a:srgbClr val="000000">
                  <a:alpha val="46667"/>
                </a:srgbClr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078102" cy="1789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4866237" y="-2354778"/>
            <a:ext cx="7421336" cy="6493669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5D45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548205" y="2795093"/>
            <a:ext cx="2052896" cy="1796284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DBF6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7548205" y="4591377"/>
            <a:ext cx="2052896" cy="1796284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1394147" y="3989956"/>
            <a:ext cx="2052896" cy="1796284"/>
            <a:chOff x="0" y="0"/>
            <a:chExt cx="812800" cy="711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AAD5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09279" y="3183842"/>
            <a:ext cx="15006333" cy="605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529" lvl="1" indent="-310264" algn="just">
              <a:lnSpc>
                <a:spcPts val="4023"/>
              </a:lnSpc>
              <a:buFont typeface="Arial"/>
              <a:buChar char="•"/>
            </a:pP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Kindly keep the maximum slides limit up to six (10). ( Including the title slide) </a:t>
            </a:r>
          </a:p>
          <a:p>
            <a:pPr marL="620529" lvl="1" indent="-310264" algn="just">
              <a:lnSpc>
                <a:spcPts val="4023"/>
              </a:lnSpc>
              <a:buFont typeface="Arial"/>
              <a:buChar char="•"/>
            </a:pP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Try to avoid paragraphs and post your idea in points /diagrams / Infographics /pictures </a:t>
            </a:r>
          </a:p>
          <a:p>
            <a:pPr marL="620529" lvl="1" indent="-310264" algn="just">
              <a:lnSpc>
                <a:spcPts val="4023"/>
              </a:lnSpc>
              <a:buFont typeface="Arial"/>
              <a:buChar char="•"/>
            </a:pP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Keep your explanation precise and easy to understand</a:t>
            </a:r>
          </a:p>
          <a:p>
            <a:pPr marL="620529" lvl="1" indent="-310264" algn="just">
              <a:lnSpc>
                <a:spcPts val="4023"/>
              </a:lnSpc>
              <a:buFont typeface="Arial"/>
              <a:buChar char="•"/>
            </a:pP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Idea should be unique and novel. </a:t>
            </a:r>
          </a:p>
          <a:p>
            <a:pPr marL="620529" lvl="1" indent="-310264" algn="just">
              <a:lnSpc>
                <a:spcPts val="4023"/>
              </a:lnSpc>
              <a:buFont typeface="Arial"/>
              <a:buChar char="•"/>
            </a:pP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You can only use provided template for making the PPT without changing the idea details pointers (mentioned in previous slides).</a:t>
            </a:r>
          </a:p>
          <a:p>
            <a:pPr marL="620529" lvl="1" indent="-310264" algn="just">
              <a:lnSpc>
                <a:spcPts val="4023"/>
              </a:lnSpc>
              <a:buFont typeface="Arial"/>
              <a:buChar char="•"/>
            </a:pP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You need to save the file in PDF and upload the same on portal. No PPT, Word Doc or any other format will be supported.</a:t>
            </a:r>
          </a:p>
          <a:p>
            <a:pPr algn="just">
              <a:lnSpc>
                <a:spcPts val="4023"/>
              </a:lnSpc>
            </a:pPr>
            <a:endParaRPr lang="en-US" sz="2874" b="1">
              <a:solidFill>
                <a:srgbClr val="1D3616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4023"/>
              </a:lnSpc>
            </a:pPr>
            <a:endParaRPr lang="en-US" sz="2874" b="1">
              <a:solidFill>
                <a:srgbClr val="1D3616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4023"/>
              </a:lnSpc>
            </a:pPr>
            <a:r>
              <a:rPr lang="en-US" sz="2874" b="1">
                <a:solidFill>
                  <a:srgbClr val="AD292F"/>
                </a:solidFill>
                <a:latin typeface="Roboto Bold"/>
                <a:ea typeface="Roboto Bold"/>
                <a:cs typeface="Roboto Bold"/>
                <a:sym typeface="Roboto Bold"/>
              </a:rPr>
              <a:t>Note - You should delete this slide (IMPORTANT INSTRUCTIONS) when you Submitting the details of your idea</a:t>
            </a:r>
            <a:r>
              <a:rPr lang="en-US" sz="2874" b="1">
                <a:solidFill>
                  <a:srgbClr val="1D3616"/>
                </a:solidFill>
                <a:latin typeface="Roboto Bold"/>
                <a:ea typeface="Roboto Bold"/>
                <a:cs typeface="Roboto Bold"/>
                <a:sym typeface="Roboto Bold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81642" y="2048987"/>
            <a:ext cx="14619347" cy="540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40"/>
              </a:lnSpc>
            </a:pPr>
            <a:r>
              <a:rPr lang="en-US" sz="3100" b="1">
                <a:solidFill>
                  <a:srgbClr val="1800AD"/>
                </a:solidFill>
                <a:latin typeface="Roboto Bold"/>
                <a:ea typeface="Roboto Bold"/>
                <a:cs typeface="Roboto Bold"/>
                <a:sym typeface="Roboto Bold"/>
              </a:rPr>
              <a:t>Please ensure below pointers are met while submitting the Idea PPT: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65592" y="853769"/>
            <a:ext cx="1555681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545454"/>
                </a:solidFill>
                <a:latin typeface="Hussar Bold"/>
                <a:ea typeface="Hussar Bold"/>
                <a:cs typeface="Hussar Bold"/>
                <a:sym typeface="Hussar Bold"/>
              </a:rPr>
              <a:t>IMPORTANT INSTRUCTIONS</a:t>
            </a:r>
          </a:p>
        </p:txBody>
      </p:sp>
      <p:sp>
        <p:nvSpPr>
          <p:cNvPr id="27" name="Freeform 27"/>
          <p:cNvSpPr/>
          <p:nvPr/>
        </p:nvSpPr>
        <p:spPr>
          <a:xfrm>
            <a:off x="432650" y="525175"/>
            <a:ext cx="1571648" cy="1338540"/>
          </a:xfrm>
          <a:custGeom>
            <a:avLst/>
            <a:gdLst/>
            <a:ahLst/>
            <a:cxnLst/>
            <a:rect l="l" t="t" r="r" b="b"/>
            <a:pathLst>
              <a:path w="1571648" h="1338540">
                <a:moveTo>
                  <a:pt x="0" y="0"/>
                </a:moveTo>
                <a:lnTo>
                  <a:pt x="1571648" y="0"/>
                </a:lnTo>
                <a:lnTo>
                  <a:pt x="1571648" y="1338541"/>
                </a:lnTo>
                <a:lnTo>
                  <a:pt x="0" y="1338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05" t="-13167" r="-9405" b="-26334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169880" y="525175"/>
            <a:ext cx="1170836" cy="1246028"/>
          </a:xfrm>
          <a:custGeom>
            <a:avLst/>
            <a:gdLst/>
            <a:ahLst/>
            <a:cxnLst/>
            <a:rect l="l" t="t" r="r" b="b"/>
            <a:pathLst>
              <a:path w="1170836" h="1246028">
                <a:moveTo>
                  <a:pt x="0" y="0"/>
                </a:moveTo>
                <a:lnTo>
                  <a:pt x="1170837" y="0"/>
                </a:lnTo>
                <a:lnTo>
                  <a:pt x="1170837" y="1246028"/>
                </a:lnTo>
                <a:lnTo>
                  <a:pt x="0" y="1246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828</Words>
  <Application>Microsoft Office PowerPoint</Application>
  <PresentationFormat>Custom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9" baseType="lpstr">
      <vt:lpstr>Calibri</vt:lpstr>
      <vt:lpstr>Roboto</vt:lpstr>
      <vt:lpstr>Times New Roman MT Bold</vt:lpstr>
      <vt:lpstr>Wide Latin</vt:lpstr>
      <vt:lpstr>Century</vt:lpstr>
      <vt:lpstr>Norwester</vt:lpstr>
      <vt:lpstr>Algerian</vt:lpstr>
      <vt:lpstr>Franklin Gothic Heavy</vt:lpstr>
      <vt:lpstr>Copperplate Gothic Light</vt:lpstr>
      <vt:lpstr>Arial</vt:lpstr>
      <vt:lpstr>Roboto Bold</vt:lpstr>
      <vt:lpstr>Wingdings</vt:lpstr>
      <vt:lpstr>Segoe UI Black</vt:lpstr>
      <vt:lpstr>Illuma Black</vt:lpstr>
      <vt:lpstr>Hussar Bold</vt:lpstr>
      <vt:lpstr>Courier New</vt:lpstr>
      <vt:lpstr>Rockwell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Visualize'26 PPT Template</dc:title>
  <dc:creator>bhavithra Balamurugan</dc:creator>
  <cp:lastModifiedBy>bhavithra Balamurugan</cp:lastModifiedBy>
  <cp:revision>2</cp:revision>
  <dcterms:created xsi:type="dcterms:W3CDTF">2006-08-16T00:00:00Z</dcterms:created>
  <dcterms:modified xsi:type="dcterms:W3CDTF">2026-03-13T08:47:00Z</dcterms:modified>
  <dc:identifier>DAHDtWbs18g</dc:identifier>
</cp:coreProperties>
</file>